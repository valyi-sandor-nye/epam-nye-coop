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Koszontes, bemutatkozas. Ket parancs a cel: java -version es mvn -v. Mondd el, hogy ez egy egyutt-csinaljuk ora, nem eloadas.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Mondd el a napirendet, es hogy a kerdeseket barmikor lehet a chatbe irni.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Hazi szabalyok. Fontos: a hibauzenetet szo szerint kerd.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nagy kep. Hangsulyozd: nem kulon-kulon eszkozok, hanem egy lanc.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Hasonlat: JVM = motor, JRE = auto, JDK = auto + szerelomuhely. A javac hianya = csak JRE van fent.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Ket dontes: verzio + disztribucio. Hangsulyozd, hogy mind ugyanaz az OpenJDK.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Itt megall az ora: mindenki telepit. Kepernyomegosztas, kozben beszelj a kovetkezo diarol.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Fontos: JAVA_HOME nem az OS-nek kell, hanem az eszkozoknek. Ha tobb JDK van fent, ez donti el, melyik a fonok.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VARAKOZASI PONT. Kerd, hogy irjak be a chatbe a verziot. Ne menj tovabb, amig nincs meg mindenki.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Elo demo: notepadben megirni, parancssorbol leforditani. Lassak, hogy nincs varazslat.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Kapcsold vissza az elozo diahoz: az IDE ugyanazt a javac-ot hivja.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2025.3 ota egyesitett termek. A regi kulon Community telepito meg letezik a letoltooldal aljan es a /download/other.html cimen, de ora on ne bonyolitsd: a sima telepito a jo valasz.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Elo demo: csinalj egy uj projektet, irj egy Main-t, futtasd. Mutasd meg az out mappat.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Mutasd meg mindegyiket eloben, ne csak olvasd fel. A psvm/sout mindig tetszik nekik.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Atvezeto dia. Lassan olvasd fel a kerdeseket, hagyd, hogy elgondolkodjanak.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menj bele melyen - a jovo heti ora temaja. Most csak annyi kell, hogy tudjak, mit telepitenek.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Itt megint megall az ora, mindenki telepit. Az IntelliJ hoz sajat Mavent, de a parancssori is kell.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koordinatak fogalma fontos - ez koti ossze a sajat projektet a fuggosegekkel.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Csak felvillantani. A reszletek a jovo heti ora anyaga.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 van ido, mutasd meg eloben az ascii-render demot. Ha nincs, csak vetitsd ki ezt a diat.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Tartalek blokk. Kb. 5 perc. Az atnevezos trukk mindig mukodik.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Tartalek blokk. Kb. 5 perc. Ne olvasd fel gepiesen, hanem meseld.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Menj vegig hangosan a listan, es kerdezd meg, kinel nem stimmel valami.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siess a lezarassal. Hagyj legalabb 5 percet kerdesekre, es mondd el a delutani konzultacio idejet.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1B3B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BPI1116 · BPI1113 · BMI1303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Programozási</a:t>
            </a:r>
            <a:endParaRPr lang="en-US" sz="3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technológiák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918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BD9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óra: Fejlesztői környezet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120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szeptember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5394960" y="137160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FB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JDK  ·  IntelliJ IDEA  ·  Maven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394960" y="2057400"/>
            <a:ext cx="6217920" cy="2743200"/>
          </a:xfrm>
          <a:prstGeom prst="roundRect">
            <a:avLst>
              <a:gd name="adj" fmla="val 2667"/>
            </a:avLst>
          </a:prstGeom>
          <a:solidFill>
            <a:srgbClr val="0F2430"/>
          </a:solidFill>
          <a:ln w="12700">
            <a:solidFill>
              <a:srgbClr val="0F2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59552" y="2203704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733288" y="2203704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07024" y="2203704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72200" y="2139696"/>
            <a:ext cx="5212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596128" y="2496312"/>
            <a:ext cx="581558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java -version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openjdk version "21.0.10" 2026-01-20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mvn -v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Apache Maven 3.9.16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_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4983480"/>
            <a:ext cx="6217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9DC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 óra végén mindenkinek fut ez a két parancs. Ez a cél.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1. óra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 menü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Együtt csináljuk, te is nyisd meg a gépeden, ne csak nézd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0149840" cy="749808"/>
          </a:xfrm>
          <a:prstGeom prst="roundRect">
            <a:avLst>
              <a:gd name="adj" fmla="val 7317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37944"/>
            <a:ext cx="457200" cy="457200"/>
          </a:xfrm>
          <a:prstGeom prst="ellipse">
            <a:avLst/>
          </a:prstGeom>
          <a:solidFill>
            <a:srgbClr val="2FBFA0"/>
          </a:solidFill>
          <a:ln w="12700">
            <a:solidFill>
              <a:srgbClr val="2FBF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81051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Miért pont ez a három eszköz?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210312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 fejlesztői lánc nagy képe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326880" y="1929384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perc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87752"/>
            <a:ext cx="10149840" cy="749808"/>
          </a:xfrm>
          <a:prstGeom prst="roundRect">
            <a:avLst>
              <a:gd name="adj" fmla="val 7317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2734056"/>
            <a:ext cx="457200" cy="457200"/>
          </a:xfrm>
          <a:prstGeom prst="ellipse">
            <a:avLst/>
          </a:prstGeom>
          <a:solidFill>
            <a:srgbClr val="2FBFA0"/>
          </a:solidFill>
          <a:ln w="12700">
            <a:solidFill>
              <a:srgbClr val="2FBF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7240" y="277063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270662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 telepítés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2999232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verzió, disztribúció, JAVA_HOME, ellenőrzés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326880" y="2825496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perc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483864"/>
            <a:ext cx="10149840" cy="749808"/>
          </a:xfrm>
          <a:prstGeom prst="roundRect">
            <a:avLst>
              <a:gd name="adj" fmla="val 7317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3630168"/>
            <a:ext cx="457200" cy="457200"/>
          </a:xfrm>
          <a:prstGeom prst="ellipse">
            <a:avLst/>
          </a:prstGeom>
          <a:solidFill>
            <a:srgbClr val="2FBFA0"/>
          </a:solidFill>
          <a:ln w="12700">
            <a:solidFill>
              <a:srgbClr val="2FBFA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77240" y="366674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360273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IDEA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1417320" y="3895344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telepítés, első projekt, amit tudni kell róla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37216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perc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379976"/>
            <a:ext cx="10149840" cy="749808"/>
          </a:xfrm>
          <a:prstGeom prst="roundRect">
            <a:avLst>
              <a:gd name="adj" fmla="val 7317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77240" y="4526280"/>
            <a:ext cx="457200" cy="457200"/>
          </a:xfrm>
          <a:prstGeom prst="ellipse">
            <a:avLst/>
          </a:prstGeom>
          <a:solidFill>
            <a:srgbClr val="2FBFA0"/>
          </a:solidFill>
          <a:ln w="12700">
            <a:solidFill>
              <a:srgbClr val="2FBFA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77240" y="456285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1417320" y="4498848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telepítés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417320" y="4791456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 ez, mire jó, mvn -v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9326880" y="4617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perc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5276088"/>
            <a:ext cx="10149840" cy="749808"/>
          </a:xfrm>
          <a:prstGeom prst="roundRect">
            <a:avLst>
              <a:gd name="adj" fmla="val 7317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5422392"/>
            <a:ext cx="457200" cy="457200"/>
          </a:xfrm>
          <a:prstGeom prst="ellipse">
            <a:avLst/>
          </a:prstGeom>
          <a:solidFill>
            <a:srgbClr val="E8944A"/>
          </a:solidFill>
          <a:ln w="12700">
            <a:solidFill>
              <a:srgbClr val="E8944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77240" y="5458968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1417320" y="53949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Kedvcsináló + kérdések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417320" y="56875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függőség kézzel vs. Mavennel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9326880" y="5513832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perc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1. óra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Hogyan dolgozunk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Néhány gyakorlati dolog, mielőtt belevágunk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246120" cy="3017520"/>
          </a:xfrm>
          <a:prstGeom prst="roundRect">
            <a:avLst>
              <a:gd name="adj" fmla="val 1818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48840"/>
            <a:ext cx="548640" cy="548640"/>
          </a:xfrm>
          <a:prstGeom prst="ellipse">
            <a:avLst/>
          </a:prstGeom>
          <a:solidFill>
            <a:srgbClr val="2FB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68680" y="22128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80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Kérdezz bátran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333756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Írd a chatbe bármikor. Nem kell megvárnod a végét. Ha valami nem sikerül, az nem szégyen, pont ezért vagyunk itt.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069080" y="1828800"/>
            <a:ext cx="3246120" cy="3017520"/>
          </a:xfrm>
          <a:prstGeom prst="roundRect">
            <a:avLst>
              <a:gd name="adj" fmla="val 1818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389120" y="2148840"/>
            <a:ext cx="548640" cy="548640"/>
          </a:xfrm>
          <a:prstGeom prst="ellipse">
            <a:avLst/>
          </a:prstGeom>
          <a:solidFill>
            <a:srgbClr val="2FB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89120" y="22128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2880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Csináld velem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389120" y="333756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Ossz meg te is képernyőt, ha elakadsz. A telepítés akkor jó, ha a te gépeden fut, nem az enyémen.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589520" y="1828800"/>
            <a:ext cx="3246120" cy="3017520"/>
          </a:xfrm>
          <a:prstGeom prst="roundRect">
            <a:avLst>
              <a:gd name="adj" fmla="val 1818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9560" y="2148840"/>
            <a:ext cx="548640" cy="548640"/>
          </a:xfrm>
          <a:prstGeom prst="ellipse">
            <a:avLst/>
          </a:prstGeom>
          <a:solidFill>
            <a:srgbClr val="2FB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09560" y="2212848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☰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7909560" y="2880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 anyag a repóban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909560" y="3337560"/>
            <a:ext cx="2606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diák, a parancsok és a demó projekt felkerül a kurzus GitHub repójába, óra után is elérhető.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166360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dolgot kérek: ha valami hibaüzenetet kapsz, ne írd át, hanem másold be a chatbe pontosan úgy, ahogy megjelent.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1. óra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Java fejlesztő négy eszköze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 az elsőt, a másodikat és a harmadikat rakjuk össze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468880" cy="2377440"/>
          </a:xfrm>
          <a:prstGeom prst="roundRect">
            <a:avLst>
              <a:gd name="adj" fmla="val 2308"/>
            </a:avLst>
          </a:prstGeom>
          <a:solidFill>
            <a:srgbClr val="EEF3F4"/>
          </a:solidFill>
          <a:ln w="25400">
            <a:solidFill>
              <a:srgbClr val="2FB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240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7432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Fordító és futtató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611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javac, java, jar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035808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E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383280" y="1965960"/>
            <a:ext cx="2468880" cy="2377440"/>
          </a:xfrm>
          <a:prstGeom prst="roundRect">
            <a:avLst>
              <a:gd name="adj" fmla="val 2308"/>
            </a:avLst>
          </a:prstGeom>
          <a:solidFill>
            <a:srgbClr val="EEF3F4"/>
          </a:solidFill>
          <a:ln w="25400">
            <a:solidFill>
              <a:srgbClr val="2FBFA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11880" y="2240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611880" y="27432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Ahol a kódot írod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3611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IntelliJ IDEA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870448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E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217920" y="1965960"/>
            <a:ext cx="2468880" cy="2377440"/>
          </a:xfrm>
          <a:prstGeom prst="roundRect">
            <a:avLst>
              <a:gd name="adj" fmla="val 2308"/>
            </a:avLst>
          </a:prstGeom>
          <a:solidFill>
            <a:srgbClr val="EEF3F4"/>
          </a:solidFill>
          <a:ln w="25400">
            <a:solidFill>
              <a:srgbClr val="2FBFA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2240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tool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27432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Függőségek, fordítás,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csomagolás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3611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Maven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705088" y="29260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AE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9052560" y="1965960"/>
            <a:ext cx="2468880" cy="2377440"/>
          </a:xfrm>
          <a:prstGeom prst="roundRect">
            <a:avLst>
              <a:gd name="adj" fmla="val 2308"/>
            </a:avLst>
          </a:prstGeom>
          <a:solidFill>
            <a:srgbClr val="F7F9F9"/>
          </a:solidFill>
          <a:ln w="12700">
            <a:solidFill>
              <a:srgbClr val="9AAAB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281160" y="22402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8B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VCS</a:t>
            </a:r>
            <a:endParaRPr lang="en-US" sz="2200" dirty="0"/>
          </a:p>
        </p:txBody>
      </p:sp>
      <p:sp>
        <p:nvSpPr>
          <p:cNvPr id="21" name="Text 19"/>
          <p:cNvSpPr txBox="1"/>
          <p:nvPr/>
        </p:nvSpPr>
        <p:spPr>
          <a:xfrm>
            <a:off x="9281160" y="27432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8B9B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Verziókezelés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281160" y="3611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9B7B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+ GitHub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4709160"/>
            <a:ext cx="10149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Git a következő órák témája. Ma nem foglalkozunk vele, de a helye már megvan a képen.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5212080"/>
            <a:ext cx="10149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 a négy dolog együtt a „fejlesztői környezet”. Egy csapatban mind a négy közös megegyezés kérdése: ugyanaz a Java-verzió, ugyanaz a build tool, ugyanaz a repó.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1. óra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JDK, JRE, JVM: mi a különbség?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leggyakoribb vizsgakérdés, és a leggyakoribb telepítési hiba forrása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669280" cy="3291840"/>
          </a:xfrm>
          <a:prstGeom prst="roundRect">
            <a:avLst>
              <a:gd name="adj" fmla="val 1667"/>
            </a:avLst>
          </a:prstGeom>
          <a:solidFill>
            <a:srgbClr val="EEF3F4"/>
          </a:solidFill>
          <a:ln w="25400">
            <a:solidFill>
              <a:srgbClr val="2FB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116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JDK: Java Development Kit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591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7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javac (fordító), jar, javadoc, jshell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68680" y="2743200"/>
            <a:ext cx="5029200" cy="2194560"/>
          </a:xfrm>
          <a:prstGeom prst="roundRect">
            <a:avLst>
              <a:gd name="adj" fmla="val 2500"/>
            </a:avLst>
          </a:prstGeom>
          <a:solidFill>
            <a:srgbClr val="E1EDEB"/>
          </a:solidFill>
          <a:ln w="12700">
            <a:solidFill>
              <a:srgbClr val="8FC6B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2926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JRE: Java Runtime Environment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707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osztálykönyvtárak, java parancs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188720" y="3611880"/>
            <a:ext cx="4389120" cy="1143000"/>
          </a:xfrm>
          <a:prstGeom prst="roundRect">
            <a:avLst>
              <a:gd name="adj" fmla="val 4800"/>
            </a:avLst>
          </a:prstGeom>
          <a:solidFill>
            <a:srgbClr val="0F24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417320" y="37947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JVM: Java Virtual Machine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41148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DC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bájtkódot futtatja, platformonként más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37960" y="1965960"/>
            <a:ext cx="50749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JVM futtat. A JRE = JVM + könyvtárak: elég, ha csak futtatni akarsz.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JDK = JRE + fejlesztői eszközök. Nekünk EZ kell, mert fordítani is akarunk.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csak JRE van fent, a java parancs megy, a javac nem. Ez a klasszikus hiba.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11 óta a JRE-t külön már nem is nagyon adják ki, szóval JDK-t telepíts.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537960" y="507492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0F2430"/>
          </a:solidFill>
          <a:ln w="12700">
            <a:solidFill>
              <a:srgbClr val="0F2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702552" y="5221224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76288" y="5221224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050024" y="5221224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739128" y="5513832"/>
            <a:ext cx="467258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javac -version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'javac' is not recognized...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1. óra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Melyik Java-t telepítsük?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Két döntés: verzió és disztribúció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VERZIÓ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5120640" cy="1828800"/>
          </a:xfrm>
          <a:prstGeom prst="roundRect">
            <a:avLst>
              <a:gd name="adj" fmla="val 3000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40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(LTS)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Ezt telepítsük a kurzuson. LTS = Long Term Support, éveken át kap frissítést, és minden könyvtár, plugin és tananyag ismeri.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2336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kurzus repójában a mintaprojektek még 11-re vannak állítva, de azok JDK 21-gyel is lefordulnak. Van már 25-ös LTS és 27-es is, de ne az órán próbáljuk ki.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DISZTRIBÚCIÓ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2057400"/>
            <a:ext cx="5486400" cy="566928"/>
          </a:xfrm>
          <a:prstGeom prst="roundRect">
            <a:avLst>
              <a:gd name="adj" fmla="val 9677"/>
            </a:avLst>
          </a:prstGeom>
          <a:solidFill>
            <a:srgbClr val="E1EDEB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355080" y="213055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Eclipse Temurin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236829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adoptium.net · ezt ajánlom, ingyenes, telepítője van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2715768"/>
            <a:ext cx="5486400" cy="566928"/>
          </a:xfrm>
          <a:prstGeom prst="roundRect">
            <a:avLst>
              <a:gd name="adj" fmla="val 9677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355080" y="27889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JDK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3026664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működik, de figyelj a licencre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126480" y="3374136"/>
            <a:ext cx="5486400" cy="566928"/>
          </a:xfrm>
          <a:prstGeom prst="roundRect">
            <a:avLst>
              <a:gd name="adj" fmla="val 9677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355080" y="344728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Corretto / Liberica / Zulu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355080" y="3685032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szintén jók, ugyanaz az OpenJDK van bennük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6126480" y="411480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Mindegyik ugyanazt az OpenJDK forrást fordítja le. A különbség a licenc, a támogatás hossza és a telepítő kényelme, nem a nyelv.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029200"/>
            <a:ext cx="11064240" cy="960120"/>
          </a:xfrm>
          <a:prstGeom prst="roundRect">
            <a:avLst>
              <a:gd name="adj" fmla="val 5714"/>
            </a:avLst>
          </a:prstGeom>
          <a:solidFill>
            <a:srgbClr val="FBF1E6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52578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A5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Ajánlott: Eclipse Temurin 21 (LTS) · adoptium.net · Windowson .msi telepítő, macOS-en .pkg · a legkevesebb meglepetéssel jár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1. óra</a:t>
            </a:r>
            <a:endParaRPr lang="en-US" sz="1000" dirty="0"/>
          </a:p>
        </p:txBody>
      </p:sp>
      <p:sp>
        <p:nvSpPr>
          <p:cNvPr id="24" name="Text 21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JDK telepítés: most csináljuk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Válaszd ki a saját oszlopodat, és szólj, ha elakadsz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29000" cy="3200400"/>
          </a:xfrm>
          <a:prstGeom prst="roundRect">
            <a:avLst>
              <a:gd name="adj" fmla="val 1714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783080"/>
            <a:ext cx="3429000" cy="566928"/>
          </a:xfrm>
          <a:prstGeom prst="roundRect">
            <a:avLst>
              <a:gd name="adj" fmla="val 9677"/>
            </a:avLst>
          </a:prstGeom>
          <a:solidFill>
            <a:srgbClr val="0F24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191109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04672" y="256032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adoptium.net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Temurin 21 (LTS), .msi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Telepítőben: „Set JAVA_HOME”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és „Add to PATH” bepipálva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Új terminál kell utána!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51960" y="1783080"/>
            <a:ext cx="3429000" cy="3200400"/>
          </a:xfrm>
          <a:prstGeom prst="roundRect">
            <a:avLst>
              <a:gd name="adj" fmla="val 1714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51960" y="1783080"/>
            <a:ext cx="3429000" cy="566928"/>
          </a:xfrm>
          <a:prstGeom prst="roundRect">
            <a:avLst>
              <a:gd name="adj" fmla="val 9677"/>
            </a:avLst>
          </a:prstGeom>
          <a:solidFill>
            <a:srgbClr val="0F24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07992" y="191109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4507992" y="256032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adoptium.net → .pkg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vagy Homebrew-val: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brew install --cask temurin@21</a:t>
            </a:r>
            <a:endParaRPr lang="en-US" sz="13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Silicon: aarch64 verzió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1783080"/>
            <a:ext cx="3429000" cy="3200400"/>
          </a:xfrm>
          <a:prstGeom prst="roundRect">
            <a:avLst>
              <a:gd name="adj" fmla="val 1714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55280" y="1783080"/>
            <a:ext cx="3429000" cy="566928"/>
          </a:xfrm>
          <a:prstGeom prst="roundRect">
            <a:avLst>
              <a:gd name="adj" fmla="val 9677"/>
            </a:avLst>
          </a:prstGeom>
          <a:solidFill>
            <a:srgbClr val="0F24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11312" y="191109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Linux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211312" y="2560320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sudo apt install openjdk-21-jdk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vagy SDKMAN: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sdk install java 21-tem</a:t>
            </a:r>
            <a:endParaRPr lang="en-US" sz="1100" dirty="0"/>
          </a:p>
          <a:p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sdk use java 21-tem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FBF1E6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36752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9A5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leggyakoribb hiba: a telepítés után a MÁR NYITOTT terminál nem látja az új Java-t. Zárd be, nyisd ki újra.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1. óra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JAVA_HOME és PATH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Két környezeti változó, ami az órák felét meg tudja keseríteni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1371600"/>
          </a:xfrm>
          <a:prstGeom prst="roundRect">
            <a:avLst>
              <a:gd name="adj" fmla="val 4000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Mappák listája, ahol az operációs rendszer keresi a parancsokat. Ha a JDK bin mappája benne van, a java és javac bárhonnan elindul.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5394960" cy="1463040"/>
          </a:xfrm>
          <a:prstGeom prst="roundRect">
            <a:avLst>
              <a:gd name="adj" fmla="val 3750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47472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JAVA_HOME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840480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változó, ami a JDK gyökérmappájára mutat. Nem az OS-nek kell, hanem a Mavennek, a Gradle-nek, a Tomcatnek. Ezek innen tudják meg, melyik Java-t használják.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78308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0F2430"/>
          </a:solidFill>
          <a:ln w="12700">
            <a:solidFill>
              <a:srgbClr val="0F2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82512" y="1929384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56248" y="1929384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29984" y="1929384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95160" y="186537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· PowerShell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19088" y="2221992"/>
            <a:ext cx="499262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$env:JAVA_HOME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C:\Program Files\Eclipse Adoptium\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jdk-21.0.10-hotspot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 where java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C:\...\jdk-21\bin\java.exe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406908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0F2430"/>
          </a:solidFill>
          <a:ln w="12700">
            <a:solidFill>
              <a:srgbClr val="0F2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82512" y="4215384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56248" y="4215384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29984" y="4215384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95160" y="415137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 / Linux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419088" y="4507992"/>
            <a:ext cx="499262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$JAVA_HOME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/usr/lib/jvm/temurin-21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which java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/usr/bin/java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498348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ezek üresek vagy rossz verzióra mutatnak, ott a hiba.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1. óra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Ellenőrzés: ennek kell megjelennie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9DC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nálad is ez jön ki, kész vagy az első lépéssel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6766560" cy="3291840"/>
          </a:xfrm>
          <a:prstGeom prst="roundRect">
            <a:avLst>
              <a:gd name="adj" fmla="val 2222"/>
            </a:avLst>
          </a:prstGeom>
          <a:solidFill>
            <a:srgbClr val="0F2430"/>
          </a:solidFill>
          <a:ln w="12700">
            <a:solidFill>
              <a:srgbClr val="0F2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2066544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2066544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0704" y="2066544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25880" y="2002536"/>
            <a:ext cx="5760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ellenőrző parancsok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359152"/>
            <a:ext cx="6364224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java -version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openjdk version "21.0.10" 2026-01-20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OpenJDK Runtime Environment Temurin-21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OpenJDK 64-Bit Server VM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javac -version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javac 21.0.10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echo $JAVA_HOME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/usr/lib/jvm/temurin-21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680960" y="1920240"/>
            <a:ext cx="3931920" cy="3291840"/>
          </a:xfrm>
          <a:prstGeom prst="roundRect">
            <a:avLst>
              <a:gd name="adj" fmla="val 1667"/>
            </a:avLst>
          </a:prstGeom>
          <a:solidFill>
            <a:srgbClr val="1B3B4A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955280" y="21488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nem ez jön ki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7955280" y="265176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„not recognized” / „command not found” → nincs a PATH-ban, vagy nem nyitottál új terminált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megy, javac nem → csak JRE van fent, kell a JDK</a:t>
            </a:r>
            <a:endParaRPr lang="en-US" sz="12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rossz verziószám → több JDK van fent, a PATH-ban a régi van előrébb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9DC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Mindenki írja be a chatbe, hogy nála milyen verzió jött ki. Megvárjuk egymást.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1. óra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 első program IDE nélkül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Hogy lásd, mit csinál helyetted később az IntelliJ és a Maven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0F2430"/>
          </a:solidFill>
          <a:ln w="12700">
            <a:solidFill>
              <a:srgbClr val="0F2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975104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1975104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0704" y="1975104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25880" y="191109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Hello.java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267712"/>
            <a:ext cx="499262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public class Hello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public static void main(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String[] args) {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System.out.println(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"Szia, Prog. Tech!");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17920" y="182880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0F2430"/>
          </a:solidFill>
          <a:ln w="12700">
            <a:solidFill>
              <a:srgbClr val="0F2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82512" y="1975104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56248" y="1975104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29984" y="1975104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95160" y="191109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fordítás és futtatás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19088" y="2267712"/>
            <a:ext cx="499262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javac Hello.java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(létrejön: Hello.class)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java Hello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Szia, Prog. Tech!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java Hello.java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(Java 11 óta egy lépésben is megy)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34340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javac = forrás (.java) → bájtkód (.class). Ezt a fordítást fogja később a Maven elvégezni.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= a bájtkódot futtatja a JVM-en. Figyelj: java Hello, nem java Hello.class.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osztály neve és a fájlnév egyezzen, a fordító ragaszkodik hozzá.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1. óra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Miért nem elég a Jegyzettömb?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az IDE ad, és amiért megéri megtanulni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29000" cy="1325880"/>
          </a:xfrm>
          <a:prstGeom prst="roundRect">
            <a:avLst>
              <a:gd name="adj" fmla="val 4138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4672" y="2084832"/>
            <a:ext cx="365760" cy="365760"/>
          </a:xfrm>
          <a:prstGeom prst="ellipse">
            <a:avLst/>
          </a:prstGeom>
          <a:solidFill>
            <a:srgbClr val="2FB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325880" y="2103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Azonnali hibajelzés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245059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pirosan aláhúzza a hibát, mielőtt lefordítanád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1828800"/>
            <a:ext cx="3429000" cy="1325880"/>
          </a:xfrm>
          <a:prstGeom prst="roundRect">
            <a:avLst>
              <a:gd name="adj" fmla="val 4138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07992" y="2084832"/>
            <a:ext cx="365760" cy="365760"/>
          </a:xfrm>
          <a:prstGeom prst="ellipse">
            <a:avLst/>
          </a:prstGeom>
          <a:solidFill>
            <a:srgbClr val="2FB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0" y="2103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Kódkiegészítés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5029200" y="245059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kell fejből tudni a metódusneveket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1828800"/>
            <a:ext cx="3429000" cy="1325880"/>
          </a:xfrm>
          <a:prstGeom prst="roundRect">
            <a:avLst>
              <a:gd name="adj" fmla="val 4138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211312" y="2084832"/>
            <a:ext cx="365760" cy="365760"/>
          </a:xfrm>
          <a:prstGeom prst="ellipse">
            <a:avLst/>
          </a:prstGeom>
          <a:solidFill>
            <a:srgbClr val="2FB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732520" y="21031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Navigáció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8732520" y="245059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Ctrl+kattintás → ott vagy a definíciónál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383280"/>
            <a:ext cx="3429000" cy="1325880"/>
          </a:xfrm>
          <a:prstGeom prst="roundRect">
            <a:avLst>
              <a:gd name="adj" fmla="val 4138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4672" y="3639312"/>
            <a:ext cx="365760" cy="365760"/>
          </a:xfrm>
          <a:prstGeom prst="ellipse">
            <a:avLst/>
          </a:prstGeom>
          <a:solidFill>
            <a:srgbClr val="2FB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325880" y="3657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Debugger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400507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megállítod a programot és belenézel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51960" y="3383280"/>
            <a:ext cx="3429000" cy="1325880"/>
          </a:xfrm>
          <a:prstGeom prst="roundRect">
            <a:avLst>
              <a:gd name="adj" fmla="val 4138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07992" y="3639312"/>
            <a:ext cx="365760" cy="365760"/>
          </a:xfrm>
          <a:prstGeom prst="ellipse">
            <a:avLst/>
          </a:prstGeom>
          <a:solidFill>
            <a:srgbClr val="2FB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0" y="3657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Refaktorálás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5029200" y="400507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átnevezés az összes hivatkozással együtt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955280" y="3383280"/>
            <a:ext cx="3429000" cy="1325880"/>
          </a:xfrm>
          <a:prstGeom prst="roundRect">
            <a:avLst>
              <a:gd name="adj" fmla="val 4138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11312" y="3639312"/>
            <a:ext cx="365760" cy="365760"/>
          </a:xfrm>
          <a:prstGeom prst="ellipse">
            <a:avLst/>
          </a:prstGeom>
          <a:solidFill>
            <a:srgbClr val="2FB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732520" y="36576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Beépített eszközök</a:t>
            </a:r>
            <a:endParaRPr lang="en-US" sz="1450" dirty="0"/>
          </a:p>
        </p:txBody>
      </p:sp>
      <p:sp>
        <p:nvSpPr>
          <p:cNvPr id="27" name="Text 25"/>
          <p:cNvSpPr txBox="1"/>
          <p:nvPr/>
        </p:nvSpPr>
        <p:spPr>
          <a:xfrm>
            <a:off x="8732520" y="4005072"/>
            <a:ext cx="2468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Git, Maven, terminál, tesztfuttatás egy helyen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502920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IDE nem varázslat: ugyanazt a javac-ot hívja meg, amit az előbb kézzel futtattunk. Csak nem neked kell gépelni.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1. óra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IntelliJ IDEA telepítés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jetbrains.com/idea, és egy fontos változás, amit érdemes tudni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2057400"/>
          </a:xfrm>
          <a:prstGeom prst="roundRect">
            <a:avLst>
              <a:gd name="adj" fmla="val 2667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2025.3 óta egyetlen IntelliJ van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33172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Nincs többé külön Community és Ultimate letöltés. Egy telepítő van. A Java- és Kotlin-fejlesztéshez szükséges minden funkció ingyenes marad, aktiválás nélkül.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383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Töltsd le a sima telepítőt, az jó lesz.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783080"/>
            <a:ext cx="5394960" cy="2057400"/>
          </a:xfrm>
          <a:prstGeom prst="roundRect">
            <a:avLst>
              <a:gd name="adj" fmla="val 2667"/>
            </a:avLst>
          </a:prstGeom>
          <a:solidFill>
            <a:srgbClr val="E1EDEB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92240" y="196596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Ultimate: 30 napos próba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92240" y="2331720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telepítéskor kapsz 30 nap Ultimate próbaidőt. Amikor lejár, az IDE nem áll le: visszavált az ingyenes szintre. Egyetemi e-mail címmel viszont ingyenes Ultimate licenc igényelhető (JetBrains Student Pack).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39776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Telepítés menete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34340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Sima telepítő: .exe / .dmg / .tar.gz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vagy Toolbox App: egy helyről frissít több verziót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Windowson pipáld be: „Add bin folder to the PATH”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Első indításkor: téma, kiosztás, pluginek: most Skip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217920" y="3977640"/>
            <a:ext cx="5394960" cy="2057400"/>
          </a:xfrm>
          <a:prstGeom prst="roundRect">
            <a:avLst>
              <a:gd name="adj" fmla="val 3556"/>
            </a:avLst>
          </a:prstGeom>
          <a:solidFill>
            <a:srgbClr val="0F2430"/>
          </a:solidFill>
          <a:ln w="12700">
            <a:solidFill>
              <a:srgbClr val="0F2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82512" y="4123944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56248" y="4123944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9984" y="4123944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95160" y="4059936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az első indítás után beállítunk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19088" y="4416552"/>
            <a:ext cx="4992624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File &gt; Project Structure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Project SDK = 21   (ha &lt;No SDK&gt;: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Add SDK &gt; JDK &gt; tallozd ki)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 &gt; Version Control &gt; Git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Path to Git executable &gt; Test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Settings &gt; Build Tools &gt; Maven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Maven home path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1. óra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Az első projekt anatómiája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Project → Java → JDK 21 → Create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4937760" cy="2377440"/>
          </a:xfrm>
          <a:prstGeom prst="roundRect">
            <a:avLst>
              <a:gd name="adj" fmla="val 3077"/>
            </a:avLst>
          </a:prstGeom>
          <a:solidFill>
            <a:srgbClr val="0F2430"/>
          </a:solidFill>
          <a:ln w="12700">
            <a:solidFill>
              <a:srgbClr val="0F2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975104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1975104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0704" y="1975104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25880" y="1911096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elso-projekt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267712"/>
            <a:ext cx="453542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elso-projekt/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A9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.idea/          &lt;- IntelliJ sajat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src/            &lt;- ide irod a kodot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Main.java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A9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out/            &lt;- ide kerul a .class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8FA9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elso-projekt.iml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1828800"/>
            <a:ext cx="5852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src: a forráskód. Ez az, amit verziókezelőbe teszünk.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a lefordított bájtkód. Ezt soha nem tesszük verziókezelőbe, bármikor újra előáll.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.idea és .iml: az IDE saját beállításai. Nem a projekt része, nem kell megérteni.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Zöld háromszög a sor mellett = futtatás. Első futtatáskor létrejön egy Run configuration.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5120640"/>
            <a:ext cx="11064240" cy="868680"/>
          </a:xfrm>
          <a:prstGeom prst="roundRect">
            <a:avLst>
              <a:gd name="adj" fmla="val 6316"/>
            </a:avLst>
          </a:prstGeom>
          <a:solidFill>
            <a:srgbClr val="E1EDEB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321808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Figyeld meg: itt még nincs pom.xml, és nincs semmilyen könyvtár, amit használhatnánk. Pontosan ezt oldja meg a Maven.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1. óra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Nyolc gyorsbillentyű, amit ma megjegyzel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macOS-en a Ctrl helyett többnyire Cmd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804672"/>
          </a:xfrm>
          <a:prstGeom prst="roundRect">
            <a:avLst>
              <a:gd name="adj" fmla="val 6818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2002536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0F24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20939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 Shift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3017520" y="2084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Keresés mindenben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172200" y="1828800"/>
            <a:ext cx="5349240" cy="804672"/>
          </a:xfrm>
          <a:prstGeom prst="roundRect">
            <a:avLst>
              <a:gd name="adj" fmla="val 6818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2002536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0F24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355080" y="209397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Space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8641080" y="20848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Kódkiegészítés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2788920"/>
            <a:ext cx="5349240" cy="804672"/>
          </a:xfrm>
          <a:prstGeom prst="roundRect">
            <a:avLst>
              <a:gd name="adj" fmla="val 6818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962656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0F24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0540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Alt + Enter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3017520" y="3044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Javítási javaslat a hibára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172200" y="2788920"/>
            <a:ext cx="5349240" cy="804672"/>
          </a:xfrm>
          <a:prstGeom prst="roundRect">
            <a:avLst>
              <a:gd name="adj" fmla="val 6818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2962656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0F24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55080" y="305409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psvm / sout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8641080" y="3044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metódus / println sablon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3749040"/>
            <a:ext cx="5349240" cy="804672"/>
          </a:xfrm>
          <a:prstGeom prst="roundRect">
            <a:avLst>
              <a:gd name="adj" fmla="val 6818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922776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0F24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31520" y="40142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Alt + L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3017520" y="40050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Kód formázása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172200" y="3749040"/>
            <a:ext cx="5349240" cy="804672"/>
          </a:xfrm>
          <a:prstGeom prst="roundRect">
            <a:avLst>
              <a:gd name="adj" fmla="val 6818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3922776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0F24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355080" y="401421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kattintás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8641080" y="400507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Ugrás a definícióhoz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4709160"/>
            <a:ext cx="5349240" cy="804672"/>
          </a:xfrm>
          <a:prstGeom prst="roundRect">
            <a:avLst>
              <a:gd name="adj" fmla="val 6818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31520" y="4882896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0F24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31520" y="49743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Shift + F10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3017520" y="4965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Futtatás újra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6172200" y="4709160"/>
            <a:ext cx="5349240" cy="804672"/>
          </a:xfrm>
          <a:prstGeom prst="roundRect">
            <a:avLst>
              <a:gd name="adj" fmla="val 6818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355080" y="4882896"/>
            <a:ext cx="2103120" cy="457200"/>
          </a:xfrm>
          <a:prstGeom prst="roundRect">
            <a:avLst>
              <a:gd name="adj" fmla="val 12000"/>
            </a:avLst>
          </a:prstGeom>
          <a:solidFill>
            <a:srgbClr val="0F243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355080" y="4974336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Ctrl + Shift + F10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8641080" y="49651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aktuális fájl futtatása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548640" y="580644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csak egyet jegyzel meg: Alt + Enter. Az IDE 90%-ban tudja, mi a baj, és fel is ajánlja a javítást.</a:t>
            </a:r>
            <a:endParaRPr lang="en-US" sz="135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1. óra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463040"/>
            <a:ext cx="6766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JDK-nk. Van IDE-nk.</a:t>
            </a:r>
            <a:endParaRPr lang="en-US" sz="3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Miért kell még egy eszköz?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383280"/>
            <a:ext cx="6766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Honnan lesz a projektedben egy külső könyvtár, mondjuk JSON-kezelés vagy adatbázis-driver?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40 ilyen könyvtár van, és mindegyiknek van saját függősége, ki tartja számon?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Hogyan fordítja le a kódot egy szerver, amin nincs IntelliJ?</a:t>
            </a:r>
            <a:endParaRPr lang="en-US" sz="15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5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Honnan tudja a csoporttársad, pontosan mire van szüksége a projektnek?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138160" y="2194560"/>
            <a:ext cx="3474720" cy="2286000"/>
          </a:xfrm>
          <a:prstGeom prst="roundRect">
            <a:avLst>
              <a:gd name="adj" fmla="val 3200"/>
            </a:avLst>
          </a:prstGeom>
          <a:solidFill>
            <a:srgbClr val="2FB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412480" y="283464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Maven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412480" y="3566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F7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erre a négy kérdésre válaszol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1. óra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 az a Maven?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Projektkezelő eszköz: leírod, MI a projekted, nem azt, hogy hogyan kell megépíteni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29000" cy="2377440"/>
          </a:xfrm>
          <a:prstGeom prst="roundRect">
            <a:avLst>
              <a:gd name="adj" fmla="val 2308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20574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146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Object Model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8036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Egyetlen XML fájl írja le a projektet: neve, verziója, függőségei, beállításai.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51960" y="1828800"/>
            <a:ext cx="3429000" cy="2377440"/>
          </a:xfrm>
          <a:prstGeom prst="roundRect">
            <a:avLst>
              <a:gd name="adj" fmla="val 2308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26280" y="20574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4526280" y="25146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Életciklus és fázisok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4526280" y="288036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Rögzített lépéssor: validate → compile → test → package → install → deploy.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1828800"/>
            <a:ext cx="3429000" cy="2377440"/>
          </a:xfrm>
          <a:prstGeom prst="roundRect">
            <a:avLst>
              <a:gd name="adj" fmla="val 2308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0" y="2057400"/>
            <a:ext cx="2880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0" y="251460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Függőségkezelés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0" y="288036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könyvtárakat a központi repóból tölti le, a gépeden pedig a lokális repóban tárolja.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11064240" cy="1600200"/>
          </a:xfrm>
          <a:prstGeom prst="roundRect">
            <a:avLst>
              <a:gd name="adj" fmla="val 3429"/>
            </a:avLst>
          </a:prstGeom>
          <a:solidFill>
            <a:srgbClr val="E1EDEB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46177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 over Configuration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68680" y="5029200"/>
            <a:ext cx="10424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Megegyezés a beállítás helyett. Ha a forrás a src/main/java mappában van, semmit nem kell konfigurálnod, a Maven tudja. Ezért néz ki minden Maven-projekt a világon ugyanúgy, és ezért tudsz beleülni egy idegen projektbe öt perc alatt.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1. óra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Maven telepítés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maven.apache.org/download.cgi · a bin.zip kell, nem a forrás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457200" cy="457200"/>
          </a:xfrm>
          <a:prstGeom prst="ellipse">
            <a:avLst/>
          </a:prstGeom>
          <a:solidFill>
            <a:srgbClr val="2FBFA0"/>
          </a:solidFill>
          <a:ln w="12700">
            <a:solidFill>
              <a:srgbClr val="2FBF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19656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801368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Töltsd le az apache-maven-3.9.x-bin.zip fájlt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532888"/>
            <a:ext cx="457200" cy="457200"/>
          </a:xfrm>
          <a:prstGeom prst="ellipse">
            <a:avLst/>
          </a:prstGeom>
          <a:solidFill>
            <a:srgbClr val="2FBFA0"/>
          </a:solidFill>
          <a:ln w="12700">
            <a:solidFill>
              <a:srgbClr val="2FBFA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2569464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551176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Csomagold ki egy egyszerű útvonalra, pl. C:\tools\apache-maven-3.9.16 (ne legyen ékezet vagy szóköz az útban!)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282696"/>
            <a:ext cx="457200" cy="457200"/>
          </a:xfrm>
          <a:prstGeom prst="ellipse">
            <a:avLst/>
          </a:prstGeom>
          <a:solidFill>
            <a:srgbClr val="2FBFA0"/>
          </a:solidFill>
          <a:ln w="12700">
            <a:solidFill>
              <a:srgbClr val="2FBFA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48640" y="3319272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300984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bin mappát vedd fel a PATH-ba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4032504"/>
            <a:ext cx="457200" cy="457200"/>
          </a:xfrm>
          <a:prstGeom prst="ellipse">
            <a:avLst/>
          </a:prstGeom>
          <a:solidFill>
            <a:srgbClr val="2FBFA0"/>
          </a:solidFill>
          <a:ln w="12700">
            <a:solidFill>
              <a:srgbClr val="2FBFA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8640" y="4069080"/>
            <a:ext cx="457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05079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Új terminál, és mvn -v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309360" y="1783080"/>
            <a:ext cx="5303520" cy="2377440"/>
          </a:xfrm>
          <a:prstGeom prst="roundRect">
            <a:avLst>
              <a:gd name="adj" fmla="val 3077"/>
            </a:avLst>
          </a:prstGeom>
          <a:solidFill>
            <a:srgbClr val="0F2430"/>
          </a:solidFill>
          <a:ln w="12700">
            <a:solidFill>
              <a:srgbClr val="0F2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73952" y="1929384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647688" y="1929384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21424" y="1929384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086600" y="1865376"/>
            <a:ext cx="4297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ellenőrzés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6510528" y="2221992"/>
            <a:ext cx="490118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mvn -v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Apache Maven 3.9.16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Maven home: /opt/maven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 version: 21.0.10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Default locale: hu_HU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4343400"/>
            <a:ext cx="5303520" cy="1691640"/>
          </a:xfrm>
          <a:prstGeom prst="roundRect">
            <a:avLst>
              <a:gd name="adj" fmla="val 3243"/>
            </a:avLst>
          </a:prstGeom>
          <a:solidFill>
            <a:srgbClr val="E1EDEB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0" y="4526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Egyszerűbb út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489204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6B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macOS: brew install maven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6B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Linux: sudo apt install maven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E6B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Bármelyik: sdk install maven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548640" y="4892040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FBF1E6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22960" y="507492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9A5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Maven a Java-t a JAVA_HOME-ból keresi. Ha az mvn -v nem indul el, először a JAVA_HOME-ot nézd meg.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1. óra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Hogy néz ki egy Maven-projekt?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Jövő héten ezt építjük fel, most csak nézzük meg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212080" cy="2606040"/>
          </a:xfrm>
          <a:prstGeom prst="roundRect">
            <a:avLst>
              <a:gd name="adj" fmla="val 2807"/>
            </a:avLst>
          </a:prstGeom>
          <a:solidFill>
            <a:srgbClr val="0F2430"/>
          </a:solidFill>
          <a:ln w="12700">
            <a:solidFill>
              <a:srgbClr val="0F2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975104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1975104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0704" y="1975104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25880" y="191109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kötelező mappaszerkezet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267712"/>
            <a:ext cx="4809744" cy="2002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elso-maven-projekt/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pom.xml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src/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main/java/      &lt;- a kod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main/resources/ &lt;- konfig, fajlok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test/java/      &lt;- a tesztek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A9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target/           &lt;- ide epit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126480" y="182880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0F2430"/>
          </a:solidFill>
          <a:ln w="12700">
            <a:solidFill>
              <a:srgbClr val="0F2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91072" y="1975104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64808" y="1975104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8544" y="1975104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903720" y="1911096"/>
            <a:ext cx="4480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pom.xml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327648" y="2267712"/>
            <a:ext cx="508406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&lt;project&gt;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&lt;modelVersion&gt;4.0.0&lt;/modelVersion&gt;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&lt;groupId&gt;hu.nye.progtech&lt;/groupId&gt;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&lt;artifactId&gt;elso-app&lt;/artifactId&gt;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&lt;version&gt;1.0-SNAPSHOT&lt;/version&gt;</a:t>
            </a:r>
            <a:endParaRPr lang="en-US" sz="11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&lt;/project&gt;</a:t>
            </a:r>
            <a:endParaRPr lang="en-US" sz="11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7091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 a három sor a projekt „koordinátája”: groupId + artifactId + version. Ezzel azonosítható a világon bárhol, és pontosan így hivatkozol majd egy külső könyvtárra is.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1. óra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Életciklus-fázisok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parancs, és minden előtte lévő lépés automatikusan lefut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417320" cy="685800"/>
          </a:xfrm>
          <a:prstGeom prst="roundRect">
            <a:avLst>
              <a:gd name="adj" fmla="val 13333"/>
            </a:avLst>
          </a:prstGeom>
          <a:solidFill>
            <a:srgbClr val="2FB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286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validate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1965960" y="221284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E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2167128" y="2103120"/>
            <a:ext cx="1417320" cy="685800"/>
          </a:xfrm>
          <a:prstGeom prst="roundRect">
            <a:avLst>
              <a:gd name="adj" fmla="val 13333"/>
            </a:avLst>
          </a:prstGeom>
          <a:solidFill>
            <a:srgbClr val="2FB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67128" y="2286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3584448" y="221284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E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785616" y="2103120"/>
            <a:ext cx="1417320" cy="685800"/>
          </a:xfrm>
          <a:prstGeom prst="roundRect">
            <a:avLst>
              <a:gd name="adj" fmla="val 13333"/>
            </a:avLst>
          </a:prstGeom>
          <a:solidFill>
            <a:srgbClr val="2FB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785616" y="2286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5202936" y="221284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E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5404104" y="2103120"/>
            <a:ext cx="1417320" cy="685800"/>
          </a:xfrm>
          <a:prstGeom prst="roundRect">
            <a:avLst>
              <a:gd name="adj" fmla="val 13333"/>
            </a:avLst>
          </a:prstGeom>
          <a:solidFill>
            <a:srgbClr val="2FBF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404104" y="2286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821424" y="221284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E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022592" y="2103120"/>
            <a:ext cx="1417320" cy="685800"/>
          </a:xfrm>
          <a:prstGeom prst="roundRect">
            <a:avLst>
              <a:gd name="adj" fmla="val 13333"/>
            </a:avLst>
          </a:prstGeom>
          <a:solidFill>
            <a:srgbClr val="CFE0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022592" y="2286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360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verify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8439912" y="221284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E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641080" y="2103120"/>
            <a:ext cx="1417320" cy="685800"/>
          </a:xfrm>
          <a:prstGeom prst="roundRect">
            <a:avLst>
              <a:gd name="adj" fmla="val 13333"/>
            </a:avLst>
          </a:prstGeom>
          <a:solidFill>
            <a:srgbClr val="CFE0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641080" y="2286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360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0058400" y="2212848"/>
            <a:ext cx="2011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AEBE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0259568" y="2103120"/>
            <a:ext cx="1417320" cy="685800"/>
          </a:xfrm>
          <a:prstGeom prst="roundRect">
            <a:avLst>
              <a:gd name="adj" fmla="val 13333"/>
            </a:avLst>
          </a:prstGeom>
          <a:solidFill>
            <a:srgbClr val="CFE0D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0259568" y="228600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360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deploy</a:t>
            </a:r>
            <a:endParaRPr lang="en-US" sz="11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29718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mvn package → lefut a validate, a compile és a test is. Nem kell külön kiadni őket.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352044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366674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compile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2468880" y="3675888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lefordítja a forrást, ezt csináltuk kézzel javac-cal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4178808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77240" y="432511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2468880" y="4334256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lefuttatja az egységteszteket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48640" y="4837176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77240" y="498348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package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2468880" y="4992624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JAR-t készít belőle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548640" y="5495544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77240" y="564184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</a:t>
            </a:r>
            <a:endParaRPr lang="en-US" sz="1250" dirty="0"/>
          </a:p>
        </p:txBody>
      </p:sp>
      <p:sp>
        <p:nvSpPr>
          <p:cNvPr id="36" name="Text 34"/>
          <p:cNvSpPr txBox="1"/>
          <p:nvPr/>
        </p:nvSpPr>
        <p:spPr>
          <a:xfrm>
            <a:off x="2468880" y="5650992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beteszi a lokális repóba, hogy más projekted is használhassa</a:t>
            </a:r>
            <a:endParaRPr lang="en-US" sz="1350" dirty="0"/>
          </a:p>
        </p:txBody>
      </p:sp>
      <p:sp>
        <p:nvSpPr>
          <p:cNvPr id="38" name="Text 35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1. óra</a:t>
            </a:r>
            <a:endParaRPr lang="en-US" sz="1000" dirty="0"/>
          </a:p>
        </p:txBody>
      </p:sp>
      <p:sp>
        <p:nvSpPr>
          <p:cNvPr id="39" name="Text 36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Kedvcsináló a jövő hétre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külső könyvtár beépítése: ugyanaz a program, kétféleképpen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94960" cy="3657600"/>
          </a:xfrm>
          <a:prstGeom prst="roundRect">
            <a:avLst>
              <a:gd name="adj" fmla="val 1500"/>
            </a:avLst>
          </a:prstGeom>
          <a:solidFill>
            <a:srgbClr val="FBF1E6"/>
          </a:solidFill>
          <a:ln w="12700">
            <a:solidFill>
              <a:srgbClr val="E0BE9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9A5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Kézzel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2423160"/>
            <a:ext cx="47548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megkeresed, milyen könyvtár kell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kideríted, annak MI a függősége, kettő lesz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letöltöd böngészőből mindkét JAR-t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javac -cp ".;a.jar;b.jar" Main.java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elválasztó: Windowson ;, Unixon : (más parancs!)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PowerShellben idézőjel is kell, különben elszáll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idegen JAR-okat kicsomagolod, com és fonts mappát másolsz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B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manifestet írsz kézzel, üres sorral a végén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217920" y="1783080"/>
            <a:ext cx="5394960" cy="3657600"/>
          </a:xfrm>
          <a:prstGeom prst="roundRect">
            <a:avLst>
              <a:gd name="adj" fmla="val 1500"/>
            </a:avLst>
          </a:prstGeom>
          <a:solidFill>
            <a:srgbClr val="E1EDEB"/>
          </a:solidFill>
          <a:ln w="12700">
            <a:solidFill>
              <a:srgbClr val="8FC6B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92240" y="196596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Mavennel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6492240" y="2468880"/>
            <a:ext cx="4846320" cy="1691640"/>
          </a:xfrm>
          <a:prstGeom prst="roundRect">
            <a:avLst>
              <a:gd name="adj" fmla="val 4324"/>
            </a:avLst>
          </a:prstGeom>
          <a:solidFill>
            <a:srgbClr val="0F2430"/>
          </a:solidFill>
          <a:ln w="12700">
            <a:solidFill>
              <a:srgbClr val="0F2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56832" y="2615184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30568" y="2615184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04304" y="2615184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693408" y="2907792"/>
            <a:ext cx="444398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&lt;dependency&gt;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&lt;groupId&gt;com.indvd00m...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&lt;artifactId&gt;ascii-render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&lt;version&gt;2.2.0&lt;/version&gt;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9DC6C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&lt;/dependency&gt;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4297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6B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majd:  mvn package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466344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tranzitív függőséget magától behozza, letölti, beteszi a classpath-ra, és futtatható JAR-t csomagol.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5623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Jövő héten ezt élőben végigcsináljuk, mindkét irányba.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1. óra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Bónusz: mi az a JAR valójában?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marad idő, ez mindig tetszik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669280" cy="2743200"/>
          </a:xfrm>
          <a:prstGeom prst="roundRect">
            <a:avLst>
              <a:gd name="adj" fmla="val 2667"/>
            </a:avLst>
          </a:prstGeom>
          <a:solidFill>
            <a:srgbClr val="0F2430"/>
          </a:solidFill>
          <a:ln w="12700">
            <a:solidFill>
              <a:srgbClr val="0F2430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975104"/>
            <a:ext cx="100584" cy="100584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86968" y="1975104"/>
            <a:ext cx="100584" cy="100584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60704" y="1975104"/>
            <a:ext cx="100584" cy="100584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325880" y="1911096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jar tf hello-world.jar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2267712"/>
            <a:ext cx="5266944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94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META-INF/MANIFEST.MF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Main.class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7F1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GreetingGenerator.class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A9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com/indvd00m/ascii/render/...</a:t>
            </a:r>
            <a:endParaRPr lang="en-US" sz="1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8FA9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fonts/standard.flf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828800"/>
            <a:ext cx="5212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JAR nem más, mint egy ZIP fájl. Nevezd át .zip-re, és megnyitja a fájlkezelő.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META-INF/MANIFEST.MF egy szöveges fájl. Ebben van a Main-Class sor, ami megmondja, mit indítson a java -jar.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Amikor a függőségeket is belecsomagoljuk, azt hívják fat jar-nak. Ma kézzel csináltuk, Mavenben ez egy plugin.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Ez az egész Java ökoszisztéma alapegysége: minden könyvtár, amit valaha használni fogsz, egy ilyen fájl.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480060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E1EDEB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5010912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6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Élő demó ötlet: nevezd át a hello-world.jar-t hello-world.zip-re, nyisd meg, és mutasd meg benne a MANIFEST.MF-et. Húsz másodperc, és onnantól értik, mi az a JAR.</a:t>
            </a:r>
            <a:endParaRPr lang="en-US" sz="135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1. óra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Bónusz: honnan jött mindez?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Harminc év három percben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6537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1991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1828800" y="187452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Sun egy csapata elkezd egy nyelvet, aminek Oak a neve. Háztartási gépekbe szánták, nem szerverekre.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59152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77240" y="248716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1996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1828800" y="249631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Megjelenik a Java 1.0. A szlogen: write once, run anywhere. Ezt a JVM teszi lehetővé.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980944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10896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2004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1828800" y="3118104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Megjelenik a Maven 1.0. Előtte mindenki saját build szkriptet írt, és mindenki másképp.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602736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7307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2007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1828800" y="3739896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Java forráskódja nyílttá válik: ez az OpenJDK. Innen származik minden mai disztribúció.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224528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77240" y="4352544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2010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1828800" y="4361688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Oracle felvásárolja a Sunt. A licencviták innen indulnak.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48640" y="4846320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77240" y="4974336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2017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828800" y="498348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Új rend: félévente jön verzió, fix dátummal. Kétévente egy LTS.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5468112"/>
            <a:ext cx="11064240" cy="530352"/>
          </a:xfrm>
          <a:prstGeom prst="roundRect">
            <a:avLst>
              <a:gd name="adj" fmla="val 10345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7240" y="559612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BF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2023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1828800" y="5605272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21 LTS. Ezt telepítettük ma.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603504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ma telepítettünk, annak minden darabja egy-egy megoldás valamilyen régi fájdalomra.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1. óra</a:t>
            </a:r>
            <a:endParaRPr lang="en-US" sz="1000" dirty="0"/>
          </a:p>
        </p:txBody>
      </p:sp>
      <p:sp>
        <p:nvSpPr>
          <p:cNvPr id="28" name="Text 25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24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Mielőtt kilépsz: ellenőrző lista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07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bármelyik nem stimmel, most szólj, ne jövő héten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7223760" cy="566928"/>
          </a:xfrm>
          <a:prstGeom prst="roundRect">
            <a:avLst>
              <a:gd name="adj" fmla="val 9677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1109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2FBFA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280160" y="193852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 -version → 21-es (vagy újabb) verziót ír ki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48640" y="2468880"/>
            <a:ext cx="7223760" cy="566928"/>
          </a:xfrm>
          <a:prstGeom prst="roundRect">
            <a:avLst>
              <a:gd name="adj" fmla="val 9677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59689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2FBF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280160" y="262432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javac -version → ugyanaz a verzió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548640" y="3154680"/>
            <a:ext cx="7223760" cy="566928"/>
          </a:xfrm>
          <a:prstGeom prst="roundRect">
            <a:avLst>
              <a:gd name="adj" fmla="val 9677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328269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2FBFA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80160" y="331012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JAVA_HOME be van állítva és a JDK mappájára mutat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48640" y="3840480"/>
            <a:ext cx="7223760" cy="566928"/>
          </a:xfrm>
          <a:prstGeom prst="roundRect">
            <a:avLst>
              <a:gd name="adj" fmla="val 9677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96849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2FBFA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280160" y="399592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IntelliJ IDEA elindul, és a Project SDK be van állítva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48640" y="4526280"/>
            <a:ext cx="7223760" cy="566928"/>
          </a:xfrm>
          <a:prstGeom prst="roundRect">
            <a:avLst>
              <a:gd name="adj" fmla="val 9677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65429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2FBFA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280160" y="468172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Lefutott egy Hello World az IntelliJ-ből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5212080"/>
            <a:ext cx="7223760" cy="566928"/>
          </a:xfrm>
          <a:prstGeom prst="roundRect">
            <a:avLst>
              <a:gd name="adj" fmla="val 9677"/>
            </a:avLst>
          </a:prstGeom>
          <a:solidFill>
            <a:srgbClr val="EEF3F4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5340096"/>
            <a:ext cx="310896" cy="310896"/>
          </a:xfrm>
          <a:prstGeom prst="roundRect">
            <a:avLst>
              <a:gd name="adj" fmla="val 14706"/>
            </a:avLst>
          </a:prstGeom>
          <a:solidFill>
            <a:srgbClr val="FFFFFF"/>
          </a:solidFill>
          <a:ln w="19050">
            <a:solidFill>
              <a:srgbClr val="2FBFA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280160" y="5367528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233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mvn -v → kiírja a Maven és a Java verziót is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8046720" y="1737360"/>
            <a:ext cx="3566160" cy="4114800"/>
          </a:xfrm>
          <a:prstGeom prst="roundRect">
            <a:avLst>
              <a:gd name="adj" fmla="val 1538"/>
            </a:avLst>
          </a:prstGeom>
          <a:solidFill>
            <a:srgbClr val="0F2430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21040" y="1965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Házi feladat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8321040" y="2514600"/>
            <a:ext cx="30175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Fejezd be a telepítést, ha most nem sikerült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Írj egy programot, ami bekér egy nevet és köszön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Nézd meg a repót: exercises/week_1.md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van kedved: igényeld a JetBrains diáklicencet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7A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1. óra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D707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F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7373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Kérdések?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274320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Nincs rossz kérdés. Ha valami nem indult el a gépeden, most a legjobb alkalom szólni. Délután Attila tartja nektek a Gitet, addigra jó, ha minden fut.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80960" y="1737360"/>
            <a:ext cx="3931920" cy="3291840"/>
          </a:xfrm>
          <a:prstGeom prst="roundRect">
            <a:avLst>
              <a:gd name="adj" fmla="val 1667"/>
            </a:avLst>
          </a:prstGeom>
          <a:solidFill>
            <a:srgbClr val="1B3B4A"/>
          </a:solidFill>
          <a:ln w="12700">
            <a:solidFill>
              <a:srgbClr val="D3DEE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955280" y="19659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Jövő héten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7955280" y="2468880"/>
            <a:ext cx="3383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Miért nehéz build tool nélkül: javac, JAR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Maven életciklusok: clean, package, test, install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Alap Maven-projekt és a pom.xml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CFE2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Függőségek kezelése és pluginek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5120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FBF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Köszönöm a figyelmet!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32764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C97A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Programozási technológiák · 1. óra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11064240" y="6327648"/>
            <a:ext cx="576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2F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ora - Fejlesztoi kornyezet</dc:title>
  <dc:subject>PptxGenJS Presentation</dc:subject>
  <dc:creator>Programozasi technologiak</dc:creator>
  <cp:lastModifiedBy>Programozasi technologiak</cp:lastModifiedBy>
  <cp:revision>1</cp:revision>
  <dcterms:created xsi:type="dcterms:W3CDTF">2026-09-07T19:53:07Z</dcterms:created>
  <dcterms:modified xsi:type="dcterms:W3CDTF">2026-09-07T19:53:07Z</dcterms:modified>
</cp:coreProperties>
</file>